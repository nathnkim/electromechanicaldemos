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85bc35485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85bc3548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85bc35485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85bc35485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85bc35485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85bc35485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85bc35485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85bc35485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85bc35485b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85bc35485b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85bc35485b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85bc35485b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85bc35485b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85bc35485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85bc35485b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85bc35485b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85bc35485b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85bc35485b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85bc35485b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85bc35485b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85bc35485b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85bc35485b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4908d489f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4908d489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ME 360 Teaching Demos</a:t>
            </a:r>
            <a:endParaRPr sz="46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Conceptual De</a:t>
            </a:r>
            <a:r>
              <a:rPr lang="en"/>
              <a:t>sign</a:t>
            </a:r>
            <a:r>
              <a:rPr lang="en"/>
              <a:t> Review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48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48"/>
              <a:t>Nathan Kim</a:t>
            </a:r>
            <a:endParaRPr sz="2348"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479300" y="40963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Note - this deck was a preliminary iteration of ideas presented to the FA2023 instructional team for feedback. Saving it for posterity; note the design has changed quite a bit since this presentation was delivered.</a:t>
            </a:r>
            <a:endParaRPr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48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48">
                <a:solidFill>
                  <a:srgbClr val="FF0000"/>
                </a:solidFill>
              </a:rPr>
              <a:t>-Nathan Kim </a:t>
            </a:r>
            <a:r>
              <a:rPr lang="en" sz="2129">
                <a:solidFill>
                  <a:srgbClr val="FF0000"/>
                </a:solidFill>
              </a:rPr>
              <a:t>1/4/2024</a:t>
            </a:r>
            <a:endParaRPr sz="1677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/>
              <a:t>Frequency Response Demo - “ME 360 Single Degree of Freedom”</a:t>
            </a:r>
            <a:endParaRPr sz="2120"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Single degree of freedom mass-spring-damper with base excitation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Motion input provided by slider-crank mechanism </a:t>
            </a:r>
            <a:r>
              <a:rPr lang="en"/>
              <a:t>driven</a:t>
            </a:r>
            <a:r>
              <a:rPr lang="en"/>
              <a:t> by 12V DC motor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 input: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Knob to vary excitation frequency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Easy to change masses, springs with different constants, dampers with </a:t>
            </a:r>
            <a:r>
              <a:rPr lang="en"/>
              <a:t>different</a:t>
            </a:r>
            <a:r>
              <a:rPr lang="en"/>
              <a:t> constants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Learning Objectives: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Students can vary system parameters and sweep frequencies in a very tactile way to build an intuitive understanding of second order system frequency response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20425"/>
            <a:ext cx="8839204" cy="430738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221075" y="4207700"/>
            <a:ext cx="509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20” long x 5” wide, 0.5” thick Al plate base with </a:t>
            </a:r>
            <a:r>
              <a:rPr lang="en" sz="1200"/>
              <a:t>plenty</a:t>
            </a:r>
            <a:r>
              <a:rPr lang="en" sz="1200"/>
              <a:t> of room to be clamped to a table</a:t>
            </a:r>
            <a:endParaRPr sz="1200"/>
          </a:p>
        </p:txBody>
      </p:sp>
      <p:sp>
        <p:nvSpPr>
          <p:cNvPr id="69" name="Google Shape;69;p15"/>
          <p:cNvSpPr txBox="1"/>
          <p:nvPr/>
        </p:nvSpPr>
        <p:spPr>
          <a:xfrm>
            <a:off x="5650800" y="1896600"/>
            <a:ext cx="334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Square mass plates can be stacked</a:t>
            </a:r>
            <a:endParaRPr sz="1200"/>
          </a:p>
        </p:txBody>
      </p:sp>
      <p:sp>
        <p:nvSpPr>
          <p:cNvPr id="70" name="Google Shape;70;p15"/>
          <p:cNvSpPr txBox="1"/>
          <p:nvPr/>
        </p:nvSpPr>
        <p:spPr>
          <a:xfrm>
            <a:off x="4142775" y="1281000"/>
            <a:ext cx="2082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Performance RC car springs and dampers</a:t>
            </a:r>
            <a:endParaRPr sz="1200"/>
          </a:p>
        </p:txBody>
      </p:sp>
      <p:sp>
        <p:nvSpPr>
          <p:cNvPr id="71" name="Google Shape;71;p15"/>
          <p:cNvSpPr txBox="1"/>
          <p:nvPr/>
        </p:nvSpPr>
        <p:spPr>
          <a:xfrm>
            <a:off x="461900" y="373500"/>
            <a:ext cx="334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Drive system is modular; belt is tensionable through pivoting of this module</a:t>
            </a:r>
            <a:endParaRPr sz="1200"/>
          </a:p>
        </p:txBody>
      </p:sp>
      <p:cxnSp>
        <p:nvCxnSpPr>
          <p:cNvPr id="72" name="Google Shape;72;p15"/>
          <p:cNvCxnSpPr/>
          <p:nvPr/>
        </p:nvCxnSpPr>
        <p:spPr>
          <a:xfrm>
            <a:off x="1229225" y="1096575"/>
            <a:ext cx="336000" cy="101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" name="Google Shape;73;p15"/>
          <p:cNvCxnSpPr/>
          <p:nvPr/>
        </p:nvCxnSpPr>
        <p:spPr>
          <a:xfrm flipH="1">
            <a:off x="4554450" y="1821725"/>
            <a:ext cx="26400" cy="54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" name="Google Shape;74;p15"/>
          <p:cNvCxnSpPr/>
          <p:nvPr/>
        </p:nvCxnSpPr>
        <p:spPr>
          <a:xfrm flipH="1">
            <a:off x="6570625" y="2239425"/>
            <a:ext cx="523800" cy="39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" name="Google Shape;75;p15"/>
          <p:cNvSpPr txBox="1"/>
          <p:nvPr/>
        </p:nvSpPr>
        <p:spPr>
          <a:xfrm>
            <a:off x="6225675" y="1038125"/>
            <a:ext cx="248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System parameters fastened with bolts + wingnuts for relative ease of adjustment</a:t>
            </a:r>
            <a:endParaRPr sz="1200"/>
          </a:p>
        </p:txBody>
      </p:sp>
      <p:sp>
        <p:nvSpPr>
          <p:cNvPr id="76" name="Google Shape;76;p15"/>
          <p:cNvSpPr txBox="1"/>
          <p:nvPr/>
        </p:nvSpPr>
        <p:spPr>
          <a:xfrm>
            <a:off x="5314775" y="4313825"/>
            <a:ext cx="341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Al extrusion linear rail + gantry plates with ball bearings constrain motion along DoF</a:t>
            </a:r>
            <a:endParaRPr sz="1200"/>
          </a:p>
        </p:txBody>
      </p:sp>
      <p:cxnSp>
        <p:nvCxnSpPr>
          <p:cNvPr id="77" name="Google Shape;77;p15"/>
          <p:cNvCxnSpPr/>
          <p:nvPr/>
        </p:nvCxnSpPr>
        <p:spPr>
          <a:xfrm rot="10800000">
            <a:off x="5986900" y="3475375"/>
            <a:ext cx="238800" cy="86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" name="Google Shape;78;p15"/>
          <p:cNvSpPr txBox="1"/>
          <p:nvPr/>
        </p:nvSpPr>
        <p:spPr>
          <a:xfrm>
            <a:off x="5216975" y="194525"/>
            <a:ext cx="3615000" cy="49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SDoF Mechanical Assembly</a:t>
            </a:r>
            <a:endParaRPr b="1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5875" y="514950"/>
            <a:ext cx="3979500" cy="44627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/>
        </p:nvSpPr>
        <p:spPr>
          <a:xfrm>
            <a:off x="338125" y="514950"/>
            <a:ext cx="334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Pocketed base plate allows for underside hardware mounting while still sitting flush on a surface</a:t>
            </a:r>
            <a:endParaRPr sz="1200"/>
          </a:p>
        </p:txBody>
      </p:sp>
      <p:sp>
        <p:nvSpPr>
          <p:cNvPr id="85" name="Google Shape;85;p16"/>
          <p:cNvSpPr txBox="1"/>
          <p:nvPr/>
        </p:nvSpPr>
        <p:spPr>
          <a:xfrm>
            <a:off x="5491175" y="1932150"/>
            <a:ext cx="334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Precision</a:t>
            </a:r>
            <a:r>
              <a:rPr lang="en" sz="1200"/>
              <a:t> dowel pin provides pivot point for drive module, allowing for belt tensioning</a:t>
            </a:r>
            <a:endParaRPr sz="1200"/>
          </a:p>
        </p:txBody>
      </p:sp>
      <p:cxnSp>
        <p:nvCxnSpPr>
          <p:cNvPr id="86" name="Google Shape;86;p16"/>
          <p:cNvCxnSpPr/>
          <p:nvPr/>
        </p:nvCxnSpPr>
        <p:spPr>
          <a:xfrm>
            <a:off x="2281575" y="1149625"/>
            <a:ext cx="1229100" cy="178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" name="Google Shape;87;p16"/>
          <p:cNvCxnSpPr>
            <a:stCxn id="85" idx="1"/>
          </p:cNvCxnSpPr>
          <p:nvPr/>
        </p:nvCxnSpPr>
        <p:spPr>
          <a:xfrm flipH="1">
            <a:off x="4094375" y="2209200"/>
            <a:ext cx="1396800" cy="541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" name="Google Shape;88;p16"/>
          <p:cNvSpPr txBox="1"/>
          <p:nvPr/>
        </p:nvSpPr>
        <p:spPr>
          <a:xfrm>
            <a:off x="5216975" y="194525"/>
            <a:ext cx="3615000" cy="49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SDoF Mechanical Assembly</a:t>
            </a:r>
            <a:endParaRPr b="1" sz="2000"/>
          </a:p>
        </p:txBody>
      </p:sp>
      <p:cxnSp>
        <p:nvCxnSpPr>
          <p:cNvPr id="89" name="Google Shape;89;p16"/>
          <p:cNvCxnSpPr/>
          <p:nvPr/>
        </p:nvCxnSpPr>
        <p:spPr>
          <a:xfrm>
            <a:off x="2290425" y="1158475"/>
            <a:ext cx="1742400" cy="235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9800" y="79600"/>
            <a:ext cx="6860349" cy="282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5100" y="2690450"/>
            <a:ext cx="6329748" cy="22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/>
          <p:nvPr/>
        </p:nvSpPr>
        <p:spPr>
          <a:xfrm>
            <a:off x="3493100" y="4483575"/>
            <a:ext cx="247500" cy="13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7"/>
          <p:cNvSpPr/>
          <p:nvPr/>
        </p:nvSpPr>
        <p:spPr>
          <a:xfrm>
            <a:off x="6740650" y="4483575"/>
            <a:ext cx="247500" cy="13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7"/>
          <p:cNvSpPr/>
          <p:nvPr/>
        </p:nvSpPr>
        <p:spPr>
          <a:xfrm>
            <a:off x="5116875" y="4483575"/>
            <a:ext cx="247500" cy="13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7"/>
          <p:cNvSpPr txBox="1"/>
          <p:nvPr/>
        </p:nvSpPr>
        <p:spPr>
          <a:xfrm>
            <a:off x="5216975" y="194525"/>
            <a:ext cx="3615000" cy="49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SDoF Mechanical Assembly</a:t>
            </a:r>
            <a:endParaRPr b="1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7100" y="1222200"/>
            <a:ext cx="4030525" cy="3680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550" y="1092675"/>
            <a:ext cx="4072124" cy="35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/>
          <p:nvPr/>
        </p:nvSpPr>
        <p:spPr>
          <a:xfrm>
            <a:off x="1874750" y="4067925"/>
            <a:ext cx="247500" cy="20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8"/>
          <p:cNvSpPr txBox="1"/>
          <p:nvPr/>
        </p:nvSpPr>
        <p:spPr>
          <a:xfrm>
            <a:off x="5216975" y="194525"/>
            <a:ext cx="3615000" cy="49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SDoF Mechanical Assembly</a:t>
            </a:r>
            <a:endParaRPr b="1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700" y="1588625"/>
            <a:ext cx="919700" cy="448174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9"/>
          <p:cNvSpPr txBox="1"/>
          <p:nvPr/>
        </p:nvSpPr>
        <p:spPr>
          <a:xfrm>
            <a:off x="6357775" y="194525"/>
            <a:ext cx="2459100" cy="49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SDoF Electronics</a:t>
            </a:r>
            <a:endParaRPr b="1" sz="2000"/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3350" y="742850"/>
            <a:ext cx="6391572" cy="403532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9"/>
          <p:cNvSpPr txBox="1"/>
          <p:nvPr/>
        </p:nvSpPr>
        <p:spPr>
          <a:xfrm>
            <a:off x="267375" y="258450"/>
            <a:ext cx="334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All electronic components are available as generics on Amazon</a:t>
            </a:r>
            <a:endParaRPr sz="1200"/>
          </a:p>
        </p:txBody>
      </p:sp>
      <p:sp>
        <p:nvSpPr>
          <p:cNvPr id="116" name="Google Shape;116;p19"/>
          <p:cNvSpPr txBox="1"/>
          <p:nvPr/>
        </p:nvSpPr>
        <p:spPr>
          <a:xfrm>
            <a:off x="6068275" y="4346125"/>
            <a:ext cx="3038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Enclosures will be designed/fabricated after function is verified</a:t>
            </a:r>
            <a:endParaRPr sz="1200"/>
          </a:p>
        </p:txBody>
      </p:sp>
      <p:sp>
        <p:nvSpPr>
          <p:cNvPr id="117" name="Google Shape;117;p19"/>
          <p:cNvSpPr txBox="1"/>
          <p:nvPr/>
        </p:nvSpPr>
        <p:spPr>
          <a:xfrm>
            <a:off x="6694375" y="1832850"/>
            <a:ext cx="194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Drive module allows drop-in compatibility with control box demo</a:t>
            </a:r>
            <a:endParaRPr sz="1200"/>
          </a:p>
        </p:txBody>
      </p:sp>
      <p:pic>
        <p:nvPicPr>
          <p:cNvPr id="118" name="Google Shape;11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32759" y="958777"/>
            <a:ext cx="309131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20207" y="4396450"/>
            <a:ext cx="689566" cy="5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/>
              <a:t>PID Controller</a:t>
            </a:r>
            <a:r>
              <a:rPr lang="en" sz="2120"/>
              <a:t> Demo - “ME 360 Point-a-Tron” - awaiting better alt</a:t>
            </a:r>
            <a:endParaRPr sz="2120"/>
          </a:p>
        </p:txBody>
      </p:sp>
      <p:sp>
        <p:nvSpPr>
          <p:cNvPr id="125" name="Google Shape;12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Single degree of freedom position control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Drive module shared with SDoF demo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 input: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Knobs to adjust controller gains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Hand positioning of reference position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Learning Objectives: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Students can vary controller gains in a tactile way to build an intuitive understanding of how PID gains affect controller performance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9200" y="884350"/>
            <a:ext cx="6006501" cy="402717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1"/>
          <p:cNvSpPr txBox="1"/>
          <p:nvPr/>
        </p:nvSpPr>
        <p:spPr>
          <a:xfrm>
            <a:off x="5412125" y="194525"/>
            <a:ext cx="3419700" cy="415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Point-a-Tron</a:t>
            </a:r>
            <a:r>
              <a:rPr b="1" lang="en" sz="1500"/>
              <a:t> Mechanical Assembly</a:t>
            </a:r>
            <a:endParaRPr b="1" sz="1500"/>
          </a:p>
        </p:txBody>
      </p:sp>
      <p:sp>
        <p:nvSpPr>
          <p:cNvPr id="132" name="Google Shape;132;p21"/>
          <p:cNvSpPr txBox="1"/>
          <p:nvPr/>
        </p:nvSpPr>
        <p:spPr>
          <a:xfrm>
            <a:off x="461900" y="373500"/>
            <a:ext cx="334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Exact same drive base as SDoF, so only 1 needs to be built</a:t>
            </a:r>
            <a:endParaRPr sz="1200"/>
          </a:p>
        </p:txBody>
      </p:sp>
      <p:cxnSp>
        <p:nvCxnSpPr>
          <p:cNvPr id="133" name="Google Shape;133;p21"/>
          <p:cNvCxnSpPr/>
          <p:nvPr/>
        </p:nvCxnSpPr>
        <p:spPr>
          <a:xfrm>
            <a:off x="1450300" y="910875"/>
            <a:ext cx="919800" cy="95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" name="Google Shape;134;p21"/>
          <p:cNvSpPr txBox="1"/>
          <p:nvPr/>
        </p:nvSpPr>
        <p:spPr>
          <a:xfrm>
            <a:off x="5339900" y="1529150"/>
            <a:ext cx="154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Belt-driven 3D printed pointer rides motion rail</a:t>
            </a:r>
            <a:endParaRPr sz="1200"/>
          </a:p>
        </p:txBody>
      </p:sp>
      <p:sp>
        <p:nvSpPr>
          <p:cNvPr id="135" name="Google Shape;135;p21"/>
          <p:cNvSpPr txBox="1"/>
          <p:nvPr/>
        </p:nvSpPr>
        <p:spPr>
          <a:xfrm>
            <a:off x="7136575" y="1640125"/>
            <a:ext cx="1954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Low loads means all support structures can be 3D printed</a:t>
            </a:r>
            <a:endParaRPr sz="1200"/>
          </a:p>
        </p:txBody>
      </p:sp>
      <p:sp>
        <p:nvSpPr>
          <p:cNvPr id="136" name="Google Shape;136;p21"/>
          <p:cNvSpPr txBox="1"/>
          <p:nvPr/>
        </p:nvSpPr>
        <p:spPr>
          <a:xfrm>
            <a:off x="203375" y="3653575"/>
            <a:ext cx="1786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Reference input rail structure is a </a:t>
            </a:r>
            <a:r>
              <a:rPr lang="en" sz="1200"/>
              <a:t>mirror of controlled output structure</a:t>
            </a:r>
            <a:endParaRPr sz="1200"/>
          </a:p>
        </p:txBody>
      </p:sp>
      <p:cxnSp>
        <p:nvCxnSpPr>
          <p:cNvPr id="137" name="Google Shape;137;p21"/>
          <p:cNvCxnSpPr/>
          <p:nvPr/>
        </p:nvCxnSpPr>
        <p:spPr>
          <a:xfrm flipH="1">
            <a:off x="5173500" y="2228525"/>
            <a:ext cx="583500" cy="67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" name="Google Shape;138;p21"/>
          <p:cNvCxnSpPr/>
          <p:nvPr/>
        </p:nvCxnSpPr>
        <p:spPr>
          <a:xfrm flipH="1">
            <a:off x="7021500" y="2361175"/>
            <a:ext cx="530700" cy="45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" name="Google Shape;139;p21"/>
          <p:cNvCxnSpPr/>
          <p:nvPr/>
        </p:nvCxnSpPr>
        <p:spPr>
          <a:xfrm flipH="1" rot="10800000">
            <a:off x="1839400" y="3749450"/>
            <a:ext cx="574800" cy="15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8700" y="610025"/>
            <a:ext cx="4109847" cy="2520626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2"/>
          <p:cNvSpPr txBox="1"/>
          <p:nvPr/>
        </p:nvSpPr>
        <p:spPr>
          <a:xfrm>
            <a:off x="5412125" y="194525"/>
            <a:ext cx="3419700" cy="415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Point-a-Tron Mechanical Assembly</a:t>
            </a:r>
            <a:endParaRPr b="1" sz="1500"/>
          </a:p>
        </p:txBody>
      </p:sp>
      <p:pic>
        <p:nvPicPr>
          <p:cNvPr id="146" name="Google Shape;14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98700" y="3321525"/>
            <a:ext cx="4009427" cy="142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/>
        </p:nvSpPr>
        <p:spPr>
          <a:xfrm>
            <a:off x="5412125" y="194525"/>
            <a:ext cx="3419700" cy="415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Point-a-Tron Mechanical Assembly</a:t>
            </a:r>
            <a:endParaRPr b="1" sz="1500"/>
          </a:p>
        </p:txBody>
      </p:sp>
      <p:pic>
        <p:nvPicPr>
          <p:cNvPr id="152" name="Google Shape;15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375" y="1920900"/>
            <a:ext cx="4063049" cy="241232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3"/>
          <p:cNvSpPr/>
          <p:nvPr/>
        </p:nvSpPr>
        <p:spPr>
          <a:xfrm>
            <a:off x="1370675" y="3404675"/>
            <a:ext cx="141600" cy="3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3"/>
          <p:cNvSpPr/>
          <p:nvPr/>
        </p:nvSpPr>
        <p:spPr>
          <a:xfrm>
            <a:off x="1370675" y="3615700"/>
            <a:ext cx="141600" cy="3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3"/>
          <p:cNvSpPr/>
          <p:nvPr/>
        </p:nvSpPr>
        <p:spPr>
          <a:xfrm>
            <a:off x="2871800" y="3404675"/>
            <a:ext cx="141600" cy="3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3"/>
          <p:cNvSpPr/>
          <p:nvPr/>
        </p:nvSpPr>
        <p:spPr>
          <a:xfrm>
            <a:off x="2871800" y="3615700"/>
            <a:ext cx="141600" cy="3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008762"/>
            <a:ext cx="3918144" cy="223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3"/>
          <p:cNvSpPr/>
          <p:nvPr/>
        </p:nvSpPr>
        <p:spPr>
          <a:xfrm>
            <a:off x="5997175" y="3355025"/>
            <a:ext cx="141600" cy="3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3"/>
          <p:cNvSpPr/>
          <p:nvPr/>
        </p:nvSpPr>
        <p:spPr>
          <a:xfrm>
            <a:off x="5997175" y="3567975"/>
            <a:ext cx="141600" cy="3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3"/>
          <p:cNvSpPr/>
          <p:nvPr/>
        </p:nvSpPr>
        <p:spPr>
          <a:xfrm>
            <a:off x="7484975" y="3355025"/>
            <a:ext cx="141600" cy="3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3"/>
          <p:cNvSpPr/>
          <p:nvPr/>
        </p:nvSpPr>
        <p:spPr>
          <a:xfrm>
            <a:off x="7484975" y="3567975"/>
            <a:ext cx="141600" cy="3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5400" y="84950"/>
            <a:ext cx="5208602" cy="505854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4"/>
          <p:cNvSpPr txBox="1"/>
          <p:nvPr/>
        </p:nvSpPr>
        <p:spPr>
          <a:xfrm>
            <a:off x="5815450" y="1923975"/>
            <a:ext cx="2737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Lots of displays to drive, inputs to deal with, so baselining multiple microcontrollers- might be able to get around this by daisy-chaining I2C</a:t>
            </a:r>
            <a:endParaRPr sz="1200"/>
          </a:p>
        </p:txBody>
      </p:sp>
      <p:sp>
        <p:nvSpPr>
          <p:cNvPr id="168" name="Google Shape;168;p24"/>
          <p:cNvSpPr txBox="1"/>
          <p:nvPr/>
        </p:nvSpPr>
        <p:spPr>
          <a:xfrm>
            <a:off x="5665150" y="3540900"/>
            <a:ext cx="3038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Enclosures will be designed/fabricated after function is verified</a:t>
            </a:r>
            <a:endParaRPr sz="1200"/>
          </a:p>
        </p:txBody>
      </p:sp>
      <p:pic>
        <p:nvPicPr>
          <p:cNvPr id="169" name="Google Shape;16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9834" y="408902"/>
            <a:ext cx="309131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87300" y="4719390"/>
            <a:ext cx="422100" cy="33918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4"/>
          <p:cNvSpPr txBox="1"/>
          <p:nvPr/>
        </p:nvSpPr>
        <p:spPr>
          <a:xfrm>
            <a:off x="6441650" y="194525"/>
            <a:ext cx="2390100" cy="415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Point-a-Tron Electronics</a:t>
            </a:r>
            <a:endParaRPr b="1" sz="1500"/>
          </a:p>
        </p:txBody>
      </p:sp>
      <p:pic>
        <p:nvPicPr>
          <p:cNvPr id="172" name="Google Shape;172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5819" y="511825"/>
            <a:ext cx="1442431" cy="9671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3" name="Google Shape;173;p24"/>
          <p:cNvCxnSpPr/>
          <p:nvPr/>
        </p:nvCxnSpPr>
        <p:spPr>
          <a:xfrm flipH="1">
            <a:off x="1787300" y="697200"/>
            <a:ext cx="314100" cy="8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" name="Google Shape;174;p24"/>
          <p:cNvCxnSpPr/>
          <p:nvPr/>
        </p:nvCxnSpPr>
        <p:spPr>
          <a:xfrm>
            <a:off x="834675" y="1522025"/>
            <a:ext cx="422100" cy="44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 Forward</a:t>
            </a:r>
            <a:endParaRPr/>
          </a:p>
        </p:txBody>
      </p:sp>
      <p:sp>
        <p:nvSpPr>
          <p:cNvPr id="180" name="Google Shape;18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Incorporate feedback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Finishing touches on CAD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Final hole patterns and fastener sizing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Higher fidelity spring/damper models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Switch/knob mounting structures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Cut a BoM + get parts ordered- order ready to go out by next Friday for SDoF parts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